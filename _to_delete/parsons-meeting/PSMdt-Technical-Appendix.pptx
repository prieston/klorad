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this appendix answers 'how is it built, what does it store, how does it talk to iNET'. Audience is PO/PM level — keep to diagrams, offer to go deeper in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push on 'why not one app': operator workflows (curation, rules, debugging) and stakeholder consumption (map, alerts) have opposite UX needs. The split is what makes one-tap install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Positioning vs Asset Guardian: we don't duplicate it — we are its field surface (inspections, work orders, status write-back). Precedent: Port of Oakland GoPort app was partner-built on iNET. If asked about Sidekick: Sidekick serves the TMC operator; Paris serves the field/stakeholder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points: no agent installed inside iNET — we consume its REST surface and webhooks over HTTPS. DB is EU (Frankfurt) but portable to any Postgres incl. Azure or on-prem. If Azure comes up: the app is a standard Node/Next.js workload — Azure-deployable; aligns with iNET's Azure SaaS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'where does the data flow, and why'. Emphasize direction: A pulls inventory, B pushes events to us, C reads live on demand. No bulk export of iNET data ever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'never stored' column is the security story in one look. If asked why we store catalog at all: map rendering and world curation need instant reads; a 404-ing iNET should not blank a public map. Payload blob kept per device so we can re-render without re-fetch.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one slide with an explicit ask. The mock server implements exactly this contract (registration endpoint, HMAC, retries) and can be handed over as the reference. Headers: X-PSMdt-Event / X-PSMdt-Signature (sha256=&lt;hex&gt;) / X-PSMdt-Delivery.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Latency claim is from local testing: webhook POST → verify → eval → insert → fan-out. Production adds the push service (FCM/APNS/Mozilla) hop. Failure handling: iNET retries upstream; our dispatch failures are logged, dead push endpoints (404/410) are pruned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Parsons talks NIST / Zero Trust / IT-OT convergence. Frame: credentials never reach a browser; the ATMS is never exposed publicly through us — we hold one narrow, signed inbound path (webhook receiver) and outbound REST reads. Happy to do a dedicated security review session with their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'does Paris poll iNET constantly?' — no: live status is fetched only when a specific device is asked about. If asked about hallucination: grounded tool-use + instruction to never invent numbers; a cited value always came from a tool result in that 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pitch: nothing here requires specialist ops. It runs serverless today; it would run equally well as a container on Azure next to iNET. Prisma migrations are versioned; deploys are reviewable.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partnership: precedent exists for partner-built apps on iNET (Port of Oakland). Possible next steps to offer: interface-spec exchange for the webhook emitter, a pilot world on a live iNET tenant, a joint security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2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8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APPENDIX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325880"/>
            <a:ext cx="10451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PSM</a:t>
            </a:r>
            <a:pPr indent="0" marL="0">
              <a:buNone/>
            </a:pPr>
            <a:r>
              <a:rPr lang="en-US" sz="4400" b="1" dirty="0">
                <a:solidFill>
                  <a:srgbClr val="E8A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</a:t>
            </a:r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Under the Hood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24231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data flow, security, and the integration contract of the PSMdt digital-twin layer for iNET.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41605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49834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— operator console + every stakeholder PWA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566160" y="41605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566160" y="49834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iNET subsystems connected (CCTV · AID · VMS · DMS · VSLS · radar)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355080" y="41605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355080" y="49834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iNET event to a push alert on a phone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0" y="41605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9144000" y="49834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stored about world visitors — by design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16559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</a:t>
            </a:r>
            <a:pPr algn="r" indent="0" marL="0">
              <a:buNone/>
            </a:pPr>
            <a:r>
              <a:rPr lang="en-US" sz="900" b="1" dirty="0">
                <a:solidFill>
                  <a:srgbClr val="E8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pPr algn="r" indent="0" marL="0">
              <a:buNone/>
            </a:pPr>
            <a:r>
              <a:rPr lang="en-US" sz="900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iNET — Technical Appendix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Philosophy — Five Principles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technical decision below traces back to one of these.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121408" cy="4023360"/>
          </a:xfrm>
          <a:prstGeom prst="roundRect">
            <a:avLst>
              <a:gd name="adj" fmla="val 3448"/>
            </a:avLst>
          </a:prstGeom>
          <a:solidFill>
            <a:srgbClr val="EDF3F8"/>
          </a:solidFill>
          <a:ln/>
        </p:spPr>
      </p:sp>
      <p:sp>
        <p:nvSpPr>
          <p:cNvPr id="5" name="Shape 3"/>
          <p:cNvSpPr/>
          <p:nvPr/>
        </p:nvSpPr>
        <p:spPr>
          <a:xfrm>
            <a:off x="1357884" y="2148840"/>
            <a:ext cx="685800" cy="685800"/>
          </a:xfrm>
          <a:prstGeom prst="ellipse">
            <a:avLst/>
          </a:prstGeom>
          <a:solidFill>
            <a:srgbClr val="2E6E8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192" y="23271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7180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many verticals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95528" y="3794760"/>
            <a:ext cx="1810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Mobility, Campus, Heritage share one design system and data layer — each vertical ships and scales independently.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07792" y="1828800"/>
            <a:ext cx="2121408" cy="4023360"/>
          </a:xfrm>
          <a:prstGeom prst="roundRect">
            <a:avLst>
              <a:gd name="adj" fmla="val 3448"/>
            </a:avLst>
          </a:prstGeom>
          <a:solidFill>
            <a:srgbClr val="EDF3F8"/>
          </a:solidFill>
          <a:ln/>
        </p:spPr>
      </p:sp>
      <p:sp>
        <p:nvSpPr>
          <p:cNvPr id="10" name="Shape 7"/>
          <p:cNvSpPr/>
          <p:nvPr/>
        </p:nvSpPr>
        <p:spPr>
          <a:xfrm>
            <a:off x="3625596" y="2148840"/>
            <a:ext cx="685800" cy="685800"/>
          </a:xfrm>
          <a:prstGeom prst="ellipse">
            <a:avLst/>
          </a:prstGeom>
          <a:solidFill>
            <a:srgbClr val="E8A3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904" y="23271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44952" y="297180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/ visitor split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063240" y="3794760"/>
            <a:ext cx="1810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dense admin console for the ATMS operator; a feather-light PWA for the stakeholder. Never one UI serving both.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175504" y="1828800"/>
            <a:ext cx="2121408" cy="4023360"/>
          </a:xfrm>
          <a:prstGeom prst="roundRect">
            <a:avLst>
              <a:gd name="adj" fmla="val 3448"/>
            </a:avLst>
          </a:prstGeom>
          <a:solidFill>
            <a:srgbClr val="EDF3F8"/>
          </a:solidFill>
          <a:ln/>
        </p:spPr>
      </p:sp>
      <p:sp>
        <p:nvSpPr>
          <p:cNvPr id="15" name="Shape 11"/>
          <p:cNvSpPr/>
          <p:nvPr/>
        </p:nvSpPr>
        <p:spPr>
          <a:xfrm>
            <a:off x="5893308" y="2148840"/>
            <a:ext cx="685800" cy="685800"/>
          </a:xfrm>
          <a:prstGeom prst="ellipse">
            <a:avLst/>
          </a:prstGeom>
          <a:solidFill>
            <a:srgbClr val="D6454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616" y="23271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12664" y="297180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White-label first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330952" y="3794760"/>
            <a:ext cx="1810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brand colours in → a fully themed, installable app out. Every world feels native to its owner.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443216" y="1828800"/>
            <a:ext cx="2121408" cy="4023360"/>
          </a:xfrm>
          <a:prstGeom prst="roundRect">
            <a:avLst>
              <a:gd name="adj" fmla="val 3448"/>
            </a:avLst>
          </a:prstGeom>
          <a:solidFill>
            <a:srgbClr val="EDF3F8"/>
          </a:solidFill>
          <a:ln/>
        </p:spPr>
      </p:sp>
      <p:sp>
        <p:nvSpPr>
          <p:cNvPr id="20" name="Shape 15"/>
          <p:cNvSpPr/>
          <p:nvPr/>
        </p:nvSpPr>
        <p:spPr>
          <a:xfrm>
            <a:off x="8161020" y="2148840"/>
            <a:ext cx="685800" cy="68580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232714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0376" y="297180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Push, don't poll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598664" y="3794760"/>
            <a:ext cx="1810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flows from iNET webhooks to phones. Polling exists only for user-triggered live reads.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710928" y="1828800"/>
            <a:ext cx="2121408" cy="4023360"/>
          </a:xfrm>
          <a:prstGeom prst="roundRect">
            <a:avLst>
              <a:gd name="adj" fmla="val 3448"/>
            </a:avLst>
          </a:prstGeom>
          <a:solidFill>
            <a:srgbClr val="EDF3F8"/>
          </a:solidFill>
          <a:ln/>
        </p:spPr>
      </p:sp>
      <p:sp>
        <p:nvSpPr>
          <p:cNvPr id="25" name="Shape 19"/>
          <p:cNvSpPr/>
          <p:nvPr/>
        </p:nvSpPr>
        <p:spPr>
          <a:xfrm>
            <a:off x="10428732" y="2148840"/>
            <a:ext cx="685800" cy="685800"/>
          </a:xfrm>
          <a:prstGeom prst="ellipse">
            <a:avLst/>
          </a:prstGeom>
          <a:solidFill>
            <a:srgbClr val="252B5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232714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48088" y="297180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Durable catalog, ephemeral state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9866376" y="3794760"/>
            <a:ext cx="1810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store the device inventory — we never mirror live status. iNET stays the single source of truth.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816559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</a:t>
            </a:r>
            <a:pPr algn="r" indent="0" marL="0">
              <a:buNone/>
            </a:pPr>
            <a:r>
              <a:rPr lang="en-US" sz="900" b="1" dirty="0">
                <a:solidFill>
                  <a:srgbClr val="E8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pPr algn="r" indent="0" marL="0">
              <a:buNone/>
            </a:pPr>
            <a:r>
              <a:rPr lang="en-US" sz="9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iNET — Technical Appendix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PSMdt Sits in the iNET Ecosystem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 window into iNET — not a copy, not a competitor to any module.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252B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03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iNET ATMS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4414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subsystems: CCTV, AID, VMS, DMS, VSLS, radar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Manager — incidents &amp; lifecycle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Guardian — asset &amp; maintenance records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D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surface + webhook events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26280" y="187452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31750">
            <a:solidFill>
              <a:srgbClr val="E8A3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103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PSM</a:t>
            </a:r>
            <a:pPr indent="0" marL="0">
              <a:buNone/>
            </a:pPr>
            <a:r>
              <a:rPr lang="en-US" sz="1700" b="1" dirty="0">
                <a:solidFill>
                  <a:srgbClr val="E8A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54880" y="24414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&amp; field layer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0" y="278892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 the device catalog (paginated REST pull)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signed webhook events in real time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 devices into branded, installable worlds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field updates back via web services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412480" y="1874520"/>
            <a:ext cx="3136392" cy="3200400"/>
          </a:xfrm>
          <a:prstGeom prst="roundRect">
            <a:avLst>
              <a:gd name="adj" fmla="val 2332"/>
            </a:avLst>
          </a:prstGeom>
          <a:solidFill>
            <a:srgbClr val="EDF3F8"/>
          </a:solidFill>
          <a:ln/>
        </p:spPr>
      </p:sp>
      <p:sp>
        <p:nvSpPr>
          <p:cNvPr id="13" name="Text 11"/>
          <p:cNvSpPr/>
          <p:nvPr/>
        </p:nvSpPr>
        <p:spPr>
          <a:xfrm>
            <a:off x="864108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41080" y="2441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authorized phone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41080" y="278892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crews — device health worlds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police &amp; engineers — live VDS data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 vehicles — incident response worlds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— civic-transparency worlds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977640" y="3246120"/>
            <a:ext cx="502920" cy="0"/>
          </a:xfrm>
          <a:prstGeom prst="line">
            <a:avLst/>
          </a:prstGeom>
          <a:noFill/>
          <a:ln w="28575">
            <a:solidFill>
              <a:srgbClr val="E8A33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480560" y="3794760"/>
            <a:ext cx="-502920" cy="0"/>
          </a:xfrm>
          <a:prstGeom prst="line">
            <a:avLst/>
          </a:prstGeom>
          <a:noFill/>
          <a:ln w="28575">
            <a:solidFill>
              <a:srgbClr val="8A93B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863840" y="3520440"/>
            <a:ext cx="502920" cy="0"/>
          </a:xfrm>
          <a:prstGeom prst="line">
            <a:avLst/>
          </a:prstGeom>
          <a:noFill/>
          <a:ln w="28575">
            <a:solidFill>
              <a:srgbClr val="E8A33B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858768" y="284378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+ data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58768" y="384962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write-back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252B5C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596128"/>
            <a:ext cx="10360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positioning: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iNET remains the single source of truth. PSMdt extends its reach — the same partner-app pattern Parsons has used before, giving Event Manager and Asset Guardian a real-time presence in every stakeholder's pocket.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16559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</a:t>
            </a:r>
            <a:pPr algn="r" indent="0" marL="0">
              <a:buNone/>
            </a:pPr>
            <a:r>
              <a:rPr lang="en-US" sz="900" b="1" dirty="0">
                <a:solidFill>
                  <a:srgbClr val="E8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pPr algn="r" indent="0" marL="0">
              <a:buNone/>
            </a:pPr>
            <a:r>
              <a:rPr lang="en-US" sz="9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iNET — Technical Appendix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thin, portable stack: one web application, one database, standard protocols end-to-end.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2286000" cy="1965960"/>
          </a:xfrm>
          <a:prstGeom prst="roundRect">
            <a:avLst>
              <a:gd name="adj" fmla="val 3721"/>
            </a:avLst>
          </a:prstGeom>
          <a:solidFill>
            <a:srgbClr val="252B5C"/>
          </a:solidFill>
          <a:ln/>
        </p:spPr>
      </p:sp>
      <p:sp>
        <p:nvSpPr>
          <p:cNvPr id="5" name="Shape 3"/>
          <p:cNvSpPr/>
          <p:nvPr/>
        </p:nvSpPr>
        <p:spPr>
          <a:xfrm>
            <a:off x="1481328" y="2423160"/>
            <a:ext cx="594360" cy="594360"/>
          </a:xfrm>
          <a:prstGeom prst="ellipse">
            <a:avLst/>
          </a:prstGeom>
          <a:solidFill>
            <a:srgbClr val="2F36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5862" y="25776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108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iNET ATMS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429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customer's estate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(cloud or on-prem)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29000" y="2240280"/>
            <a:ext cx="2286000" cy="1965960"/>
          </a:xfrm>
          <a:prstGeom prst="roundRect">
            <a:avLst>
              <a:gd name="adj" fmla="val 3721"/>
            </a:avLst>
          </a:prstGeom>
          <a:solidFill>
            <a:srgbClr val="EDF3F8"/>
          </a:solidFill>
          <a:ln/>
        </p:spPr>
      </p:sp>
      <p:sp>
        <p:nvSpPr>
          <p:cNvPr id="10" name="Shape 7"/>
          <p:cNvSpPr/>
          <p:nvPr/>
        </p:nvSpPr>
        <p:spPr>
          <a:xfrm>
            <a:off x="4270248" y="2423160"/>
            <a:ext cx="594360" cy="594360"/>
          </a:xfrm>
          <a:prstGeom prst="ellipse">
            <a:avLst/>
          </a:prstGeom>
          <a:solidFill>
            <a:srgbClr val="2E6E8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782" y="25776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3108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Connector layer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20440" y="3429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per vendor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iNET today, any ATMS next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1828800"/>
            <a:ext cx="310896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31750">
            <a:solidFill>
              <a:srgbClr val="E8A33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0800" y="1993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PSM</a:t>
            </a:r>
            <a:pPr indent="0" marL="0">
              <a:buNone/>
            </a:pPr>
            <a:r>
              <a:rPr lang="en-US" sz="1500" b="1" dirty="0">
                <a:solidFill>
                  <a:srgbClr val="E8A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</a:t>
            </a:r>
            <a:pPr indent="0" marL="0">
              <a:buNone/>
            </a:pPr>
            <a:r>
              <a:rPr lang="en-US" sz="150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application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400800" y="242316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console (auth + RBAC)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PWA worlds (per-tenant)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engine + alert rule engine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Web-push dispatch (VAPID)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— grounded AI assistant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9921240" y="2240280"/>
            <a:ext cx="1645920" cy="1965960"/>
          </a:xfrm>
          <a:prstGeom prst="roundRect">
            <a:avLst>
              <a:gd name="adj" fmla="val 4444"/>
            </a:avLst>
          </a:prstGeom>
          <a:solidFill>
            <a:srgbClr val="EDF3F8"/>
          </a:solidFill>
          <a:ln/>
        </p:spPr>
      </p:sp>
      <p:sp>
        <p:nvSpPr>
          <p:cNvPr id="18" name="Shape 14"/>
          <p:cNvSpPr/>
          <p:nvPr/>
        </p:nvSpPr>
        <p:spPr>
          <a:xfrm>
            <a:off x="10442448" y="2423160"/>
            <a:ext cx="594360" cy="59436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6982" y="2577694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966960" y="31089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phones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2944368" y="3200400"/>
            <a:ext cx="457200" cy="0"/>
          </a:xfrm>
          <a:prstGeom prst="line">
            <a:avLst/>
          </a:prstGeom>
          <a:noFill/>
          <a:ln w="28575">
            <a:solidFill>
              <a:srgbClr val="E8A33B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5733288" y="3200400"/>
            <a:ext cx="457200" cy="0"/>
          </a:xfrm>
          <a:prstGeom prst="line">
            <a:avLst/>
          </a:prstGeom>
          <a:noFill/>
          <a:ln w="28575">
            <a:solidFill>
              <a:srgbClr val="E8A33B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9345168" y="3200400"/>
            <a:ext cx="548640" cy="0"/>
          </a:xfrm>
          <a:prstGeom prst="line">
            <a:avLst/>
          </a:prstGeom>
          <a:noFill/>
          <a:ln w="28575">
            <a:solidFill>
              <a:srgbClr val="E8A33B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640080" y="50749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EDF3F8"/>
          </a:solidFill>
          <a:ln/>
        </p:spPr>
      </p:sp>
      <p:sp>
        <p:nvSpPr>
          <p:cNvPr id="25" name="Shape 20"/>
          <p:cNvSpPr/>
          <p:nvPr/>
        </p:nvSpPr>
        <p:spPr>
          <a:xfrm>
            <a:off x="804672" y="5257800"/>
            <a:ext cx="457200" cy="457200"/>
          </a:xfrm>
          <a:prstGeom prst="ellipse">
            <a:avLst/>
          </a:prstGeom>
          <a:solidFill>
            <a:srgbClr val="252B5C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5376672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71600" y="51937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(managed, Frankfurt / EU)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804672" y="577900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· worlds · rules · alerts — pooled for serverless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483864" y="50749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EDF3F8"/>
          </a:solidFill>
          <a:ln/>
        </p:spPr>
      </p:sp>
      <p:sp>
        <p:nvSpPr>
          <p:cNvPr id="30" name="Shape 24"/>
          <p:cNvSpPr/>
          <p:nvPr/>
        </p:nvSpPr>
        <p:spPr>
          <a:xfrm>
            <a:off x="3648456" y="5257800"/>
            <a:ext cx="457200" cy="457200"/>
          </a:xfrm>
          <a:prstGeom prst="ellipse">
            <a:avLst/>
          </a:prstGeom>
          <a:solidFill>
            <a:srgbClr val="2E6E8E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7328" y="5376672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215384" y="51937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hosting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3648456" y="577900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auto-scales per request; portable Node app — on-prem possible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6327648" y="50749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EDF3F8"/>
          </a:solidFill>
          <a:ln/>
        </p:spPr>
      </p:sp>
      <p:sp>
        <p:nvSpPr>
          <p:cNvPr id="35" name="Shape 28"/>
          <p:cNvSpPr/>
          <p:nvPr/>
        </p:nvSpPr>
        <p:spPr>
          <a:xfrm>
            <a:off x="6492240" y="5257800"/>
            <a:ext cx="457200" cy="457200"/>
          </a:xfrm>
          <a:prstGeom prst="ellipse">
            <a:avLst/>
          </a:prstGeom>
          <a:solidFill>
            <a:srgbClr val="E8A33B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112" y="5376672"/>
            <a:ext cx="219456" cy="21945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059168" y="51937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Push (VAPID standard)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6492240" y="577900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push services; no app store, no Firebase lock-in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9171432" y="50749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EDF3F8"/>
          </a:solidFill>
          <a:ln/>
        </p:spPr>
      </p:sp>
      <p:sp>
        <p:nvSpPr>
          <p:cNvPr id="40" name="Shape 32"/>
          <p:cNvSpPr/>
          <p:nvPr/>
        </p:nvSpPr>
        <p:spPr>
          <a:xfrm>
            <a:off x="9336024" y="5257800"/>
            <a:ext cx="457200" cy="457200"/>
          </a:xfrm>
          <a:prstGeom prst="ellipse">
            <a:avLst/>
          </a:prstGeom>
          <a:solidFill>
            <a:srgbClr val="D64541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4896" y="5376672"/>
            <a:ext cx="219456" cy="219456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9902952" y="51937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9336024" y="577900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only; per-project BYO key supported</a:t>
            </a:r>
            <a:endParaRPr lang="en-US" sz="950" dirty="0"/>
          </a:p>
        </p:txBody>
      </p:sp>
      <p:sp>
        <p:nvSpPr>
          <p:cNvPr id="44" name="Text 35"/>
          <p:cNvSpPr/>
          <p:nvPr/>
        </p:nvSpPr>
        <p:spPr>
          <a:xfrm>
            <a:off x="816559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</a:t>
            </a:r>
            <a:pPr algn="r" indent="0" marL="0">
              <a:buNone/>
            </a:pPr>
            <a:r>
              <a:rPr lang="en-US" sz="900" b="1" dirty="0">
                <a:solidFill>
                  <a:srgbClr val="E8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pPr algn="r" indent="0" marL="0">
              <a:buNone/>
            </a:pPr>
            <a:r>
              <a:rPr lang="en-US" sz="9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iNET — Technical Appendix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Data Paths — Nothing Else Crosses the Wire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path has one job, one direction, and one security control.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1298448"/>
          </a:xfrm>
          <a:prstGeom prst="roundRect">
            <a:avLst>
              <a:gd name="adj" fmla="val 5634"/>
            </a:avLst>
          </a:prstGeom>
          <a:solidFill>
            <a:srgbClr val="EDF3F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84248"/>
            <a:ext cx="457200" cy="457200"/>
          </a:xfrm>
          <a:prstGeom prst="ellipse">
            <a:avLst/>
          </a:prstGeom>
          <a:solidFill>
            <a:srgbClr val="2E6E8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0025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 sync — pull, scheduled or on demand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463040" y="2468880"/>
            <a:ext cx="2365248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9050">
            <a:solidFill>
              <a:srgbClr val="2E6E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2468880"/>
            <a:ext cx="2273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2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iNET paginated REST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3864864" y="2706624"/>
            <a:ext cx="310896" cy="0"/>
          </a:xfrm>
          <a:prstGeom prst="line">
            <a:avLst/>
          </a:prstGeom>
          <a:noFill/>
          <a:ln w="28575">
            <a:solidFill>
              <a:srgbClr val="2E6E8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12336" y="2468880"/>
            <a:ext cx="2365248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9050">
            <a:solidFill>
              <a:srgbClr val="2E6E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8056" y="2468880"/>
            <a:ext cx="2273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2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upsert per page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614160" y="2706624"/>
            <a:ext cx="310896" cy="0"/>
          </a:xfrm>
          <a:prstGeom prst="line">
            <a:avLst/>
          </a:prstGeom>
          <a:noFill/>
          <a:ln w="28575">
            <a:solidFill>
              <a:srgbClr val="2E6E8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61632" y="2468880"/>
            <a:ext cx="2365248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9050">
            <a:solidFill>
              <a:srgbClr val="2E6E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07352" y="2468880"/>
            <a:ext cx="2273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2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device catalog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9555480" y="2057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&amp; resumable; operator curation is never overwritten.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3246120"/>
            <a:ext cx="10908792" cy="1298448"/>
          </a:xfrm>
          <a:prstGeom prst="roundRect">
            <a:avLst>
              <a:gd name="adj" fmla="val 5634"/>
            </a:avLst>
          </a:prstGeom>
          <a:solidFill>
            <a:srgbClr val="EDF3F8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3447288"/>
            <a:ext cx="457200" cy="457200"/>
          </a:xfrm>
          <a:prstGeom prst="ellipse">
            <a:avLst/>
          </a:prstGeom>
          <a:solidFill>
            <a:srgbClr val="E8A33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346557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 — push, real time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463040" y="3931920"/>
            <a:ext cx="1677924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9050">
            <a:solidFill>
              <a:srgbClr val="E8A3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08760" y="3931920"/>
            <a:ext cx="15864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2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iNET fires signed webhook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3177540" y="4169664"/>
            <a:ext cx="310896" cy="0"/>
          </a:xfrm>
          <a:prstGeom prst="line">
            <a:avLst/>
          </a:prstGeom>
          <a:noFill/>
          <a:ln w="28575">
            <a:solidFill>
              <a:srgbClr val="E8A33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525012" y="3931920"/>
            <a:ext cx="1677924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9050">
            <a:solidFill>
              <a:srgbClr val="E8A3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70732" y="3931920"/>
            <a:ext cx="15864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2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verify + rule engine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5239512" y="4169664"/>
            <a:ext cx="310896" cy="0"/>
          </a:xfrm>
          <a:prstGeom prst="line">
            <a:avLst/>
          </a:prstGeom>
          <a:noFill/>
          <a:ln w="28575">
            <a:solidFill>
              <a:srgbClr val="E8A33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586984" y="3931920"/>
            <a:ext cx="1677924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9050">
            <a:solidFill>
              <a:srgbClr val="E8A3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32704" y="3931920"/>
            <a:ext cx="15864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2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stored → push fan-out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7301484" y="4169664"/>
            <a:ext cx="310896" cy="0"/>
          </a:xfrm>
          <a:prstGeom prst="line">
            <a:avLst/>
          </a:prstGeom>
          <a:noFill/>
          <a:ln w="28575">
            <a:solidFill>
              <a:srgbClr val="E8A33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648956" y="3931920"/>
            <a:ext cx="1677924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9050">
            <a:solidFill>
              <a:srgbClr val="E8A3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94676" y="3931920"/>
            <a:ext cx="15864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2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deep-linked to device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9555480" y="3520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200–800 ms end-to-end; every receipt audited, matched or not.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" y="4709160"/>
            <a:ext cx="10908792" cy="1298448"/>
          </a:xfrm>
          <a:prstGeom prst="roundRect">
            <a:avLst>
              <a:gd name="adj" fmla="val 5634"/>
            </a:avLst>
          </a:prstGeom>
          <a:solidFill>
            <a:srgbClr val="EDF3F8"/>
          </a:solidFill>
          <a:ln/>
        </p:spPr>
      </p:sp>
      <p:sp>
        <p:nvSpPr>
          <p:cNvPr id="34" name="Shape 32"/>
          <p:cNvSpPr/>
          <p:nvPr/>
        </p:nvSpPr>
        <p:spPr>
          <a:xfrm>
            <a:off x="868680" y="4910328"/>
            <a:ext cx="457200" cy="457200"/>
          </a:xfrm>
          <a:prstGeom prst="ellipse">
            <a:avLst/>
          </a:prstGeom>
          <a:solidFill>
            <a:srgbClr val="D64541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63040" y="492861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reads — on demand only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463040" y="5394960"/>
            <a:ext cx="2365248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9050">
            <a:solidFill>
              <a:srgbClr val="D6454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08760" y="5394960"/>
            <a:ext cx="2273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2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or Paris asks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3864864" y="5632704"/>
            <a:ext cx="310896" cy="0"/>
          </a:xfrm>
          <a:prstGeom prst="line">
            <a:avLst/>
          </a:prstGeom>
          <a:noFill/>
          <a:ln w="28575">
            <a:solidFill>
              <a:srgbClr val="D64541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212336" y="5394960"/>
            <a:ext cx="2365248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9050">
            <a:solidFill>
              <a:srgbClr val="D645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58056" y="5394960"/>
            <a:ext cx="2273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2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hits iNET /status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6614160" y="5632704"/>
            <a:ext cx="310896" cy="0"/>
          </a:xfrm>
          <a:prstGeom prst="line">
            <a:avLst/>
          </a:prstGeom>
          <a:noFill/>
          <a:ln w="28575">
            <a:solidFill>
              <a:srgbClr val="D64541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961632" y="5394960"/>
            <a:ext cx="2365248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9050">
            <a:solidFill>
              <a:srgbClr val="D6454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07352" y="5394960"/>
            <a:ext cx="2273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2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live — never stored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9555480" y="4983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state always comes from iNET at the moment of asking.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16559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</a:t>
            </a:r>
            <a:pPr algn="r" indent="0" marL="0">
              <a:buNone/>
            </a:pPr>
            <a:r>
              <a:rPr lang="en-US" sz="900" b="1" dirty="0">
                <a:solidFill>
                  <a:srgbClr val="E8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pPr algn="r" indent="0" marL="0">
              <a:buNone/>
            </a:pPr>
            <a:r>
              <a:rPr lang="en-US" sz="9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iNET — Technical Appendix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Store — and What We Deliberately Don't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iNET is the system of record, PSMdt is the system of reach.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POSTGRES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929384"/>
            <a:ext cx="6675120" cy="621792"/>
          </a:xfrm>
          <a:prstGeom prst="roundRect">
            <a:avLst>
              <a:gd name="adj" fmla="val 8824"/>
            </a:avLst>
          </a:prstGeom>
          <a:solidFill>
            <a:srgbClr val="EDF3F8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29384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catalog — </a:t>
            </a:r>
            <a:pPr indent="0" marL="0">
              <a:buNone/>
            </a:pPr>
            <a:r>
              <a:rPr lang="en-US" sz="11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geo, subsystem, curation flags — fast maps without hammering iNET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670048"/>
            <a:ext cx="6675120" cy="621792"/>
          </a:xfrm>
          <a:prstGeom prst="roundRect">
            <a:avLst>
              <a:gd name="adj" fmla="val 8824"/>
            </a:avLst>
          </a:prstGeom>
          <a:solidFill>
            <a:srgbClr val="EDF3F8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670048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Worlds &amp; themes — </a:t>
            </a:r>
            <a:pPr indent="0" marL="0">
              <a:buNone/>
            </a:pPr>
            <a:r>
              <a:rPr lang="en-US" sz="11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scoping, branding, visibility (public / link-only / authenticated)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410712"/>
            <a:ext cx="6675120" cy="621792"/>
          </a:xfrm>
          <a:prstGeom prst="roundRect">
            <a:avLst>
              <a:gd name="adj" fmla="val 8824"/>
            </a:avLst>
          </a:prstGeom>
          <a:solidFill>
            <a:srgbClr val="EDF3F8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3410712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rules &amp; alert history — </a:t>
            </a:r>
            <a:pPr indent="0" marL="0">
              <a:buNone/>
            </a:pPr>
            <a:r>
              <a:rPr lang="en-US" sz="11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operator-configured; durable rows give an audit trail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151376"/>
            <a:ext cx="6675120" cy="621792"/>
          </a:xfrm>
          <a:prstGeom prst="roundRect">
            <a:avLst>
              <a:gd name="adj" fmla="val 8824"/>
            </a:avLst>
          </a:prstGeom>
          <a:solidFill>
            <a:srgbClr val="EDF3F8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4151376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history — </a:t>
            </a:r>
            <a:pPr indent="0" marL="0">
              <a:buNone/>
            </a:pPr>
            <a:r>
              <a:rPr lang="en-US" sz="11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pushed, to whom, when — powers the notifications feed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6675120" cy="621792"/>
          </a:xfrm>
          <a:prstGeom prst="roundRect">
            <a:avLst>
              <a:gd name="adj" fmla="val 8824"/>
            </a:avLst>
          </a:prstGeom>
          <a:solidFill>
            <a:srgbClr val="EDF3F8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4892040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subscriptions — </a:t>
            </a:r>
            <a:pPr indent="0" marL="0">
              <a:buNone/>
            </a:pPr>
            <a:r>
              <a:rPr lang="en-US" sz="11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endpoint + crypto keys only — no name, no email, no account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5632704"/>
            <a:ext cx="6675120" cy="621792"/>
          </a:xfrm>
          <a:prstGeom prst="roundRect">
            <a:avLst>
              <a:gd name="adj" fmla="val 8824"/>
            </a:avLst>
          </a:prstGeom>
          <a:solidFill>
            <a:srgbClr val="EDF3F8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5632704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secrets — </a:t>
            </a:r>
            <a:pPr indent="0" marL="0">
              <a:buNone/>
            </a:pPr>
            <a:r>
              <a:rPr lang="en-US" sz="11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iNET credentials, webhook secrets, API keys — AES-256-GCM at rest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63524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4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STORED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35240" y="1929384"/>
            <a:ext cx="3913632" cy="4315968"/>
          </a:xfrm>
          <a:prstGeom prst="roundRect">
            <a:avLst>
              <a:gd name="adj" fmla="val 1869"/>
            </a:avLst>
          </a:prstGeom>
          <a:solidFill>
            <a:srgbClr val="252B5C"/>
          </a:solidFill>
          <a:ln/>
        </p:spPr>
      </p:sp>
      <p:sp>
        <p:nvSpPr>
          <p:cNvPr id="19" name="Text 17"/>
          <p:cNvSpPr/>
          <p:nvPr/>
        </p:nvSpPr>
        <p:spPr>
          <a:xfrm>
            <a:off x="7882128" y="21945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Live device status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polled at read time, rendered, discarded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82128" y="299008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Video or camera streams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played from source, never proxied to disk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82128" y="3785616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Visitor identity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no accounts, no emails, no tracking IDs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82128" y="4581144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Plaintext credentials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everything sensitive is encrypted at rest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82128" y="5376672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AI training data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conversations are not used to train models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6559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</a:t>
            </a:r>
            <a:pPr algn="r" indent="0" marL="0">
              <a:buNone/>
            </a:pPr>
            <a:r>
              <a:rPr lang="en-US" sz="900" b="1" dirty="0">
                <a:solidFill>
                  <a:srgbClr val="E8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pPr algn="r" indent="0" marL="0">
              <a:buNone/>
            </a:pPr>
            <a:r>
              <a:rPr lang="en-US" sz="9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iNET — Technical Appendix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Webhook Contract — How iNET Talks to PSMdt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signing, retries — a reference implementation ships in our mock-iNET server.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2E6E8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7647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325880" y="2112264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PSMdt registers a receiver URL, an event filter, and a shared secret with iNET (accept / reject).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990088"/>
            <a:ext cx="502920" cy="502920"/>
          </a:xfrm>
          <a:prstGeom prst="ellipse">
            <a:avLst/>
          </a:prstGeom>
          <a:solidFill>
            <a:srgbClr val="E8A33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971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&amp; fire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325880" y="331927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iNET signs each event — HMAC-SHA256 over the raw body — and POSTs it with event, signature, and delivery-ID headers.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197096"/>
            <a:ext cx="502920" cy="502920"/>
          </a:xfrm>
          <a:prstGeom prst="ellipse">
            <a:avLst/>
          </a:prstGeom>
          <a:solidFill>
            <a:srgbClr val="D6454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97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1788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Retry &amp; prune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325880" y="45262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retries with backoff (1s / 5s / 30s) on failure; a 410 Gone response deactivates the subscription.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5422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TYPES TODAY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5733288"/>
            <a:ext cx="1448410" cy="384048"/>
          </a:xfrm>
          <a:prstGeom prst="roundRect">
            <a:avLst>
              <a:gd name="adj" fmla="val 14286"/>
            </a:avLst>
          </a:prstGeom>
          <a:solidFill>
            <a:srgbClr val="EDF3F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733288"/>
            <a:ext cx="14484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026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device.status_changed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16506" y="5733288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EDF3F8"/>
          </a:solidFill>
          <a:ln/>
        </p:spPr>
      </p:sp>
      <p:sp>
        <p:nvSpPr>
          <p:cNvPr id="20" name="Text 18"/>
          <p:cNvSpPr/>
          <p:nvPr/>
        </p:nvSpPr>
        <p:spPr>
          <a:xfrm>
            <a:off x="2216506" y="57332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026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incident.posted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41802" y="5733288"/>
            <a:ext cx="1565453" cy="384048"/>
          </a:xfrm>
          <a:prstGeom prst="roundRect">
            <a:avLst>
              <a:gd name="adj" fmla="val 14286"/>
            </a:avLst>
          </a:prstGeom>
          <a:solidFill>
            <a:srgbClr val="EDF3F8"/>
          </a:solidFill>
          <a:ln/>
        </p:spPr>
      </p:sp>
      <p:sp>
        <p:nvSpPr>
          <p:cNvPr id="22" name="Text 20"/>
          <p:cNvSpPr/>
          <p:nvPr/>
        </p:nvSpPr>
        <p:spPr>
          <a:xfrm>
            <a:off x="3441802" y="5733288"/>
            <a:ext cx="15654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026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incident.status_changed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135270" y="5733288"/>
            <a:ext cx="687629" cy="384048"/>
          </a:xfrm>
          <a:prstGeom prst="roundRect">
            <a:avLst>
              <a:gd name="adj" fmla="val 14286"/>
            </a:avLst>
          </a:prstGeom>
          <a:solidFill>
            <a:srgbClr val="EDF3F8"/>
          </a:solidFill>
          <a:ln/>
        </p:spPr>
      </p:sp>
      <p:sp>
        <p:nvSpPr>
          <p:cNvPr id="24" name="Text 22"/>
          <p:cNvSpPr/>
          <p:nvPr/>
        </p:nvSpPr>
        <p:spPr>
          <a:xfrm>
            <a:off x="5135270" y="5733288"/>
            <a:ext cx="6876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026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vds.tick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720840" y="1783080"/>
            <a:ext cx="4828032" cy="3310128"/>
          </a:xfrm>
          <a:prstGeom prst="roundRect">
            <a:avLst>
              <a:gd name="adj" fmla="val 2210"/>
            </a:avLst>
          </a:prstGeom>
          <a:solidFill>
            <a:srgbClr val="252B5C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1920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event envelope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228600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"device.status_changed",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"at": "2026-07-23T16:00:00Z",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"payload":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"externalId": "E-RDR-4.01",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"subsystem": "radar",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"status":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"occupancy": 0.85,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"speed": 18, "volume": 105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E0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720840" y="5257800"/>
            <a:ext cx="48280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E8A3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31152" y="534924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requirement for production iNET: </a:t>
            </a:r>
            <a:pPr indent="0" marL="0">
              <a:buNone/>
            </a:pPr>
            <a:r>
              <a:rPr lang="en-US" sz="110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the status object on every event — threshold rules evaluate payload.status directly.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6559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</a:t>
            </a:r>
            <a:pPr algn="r" indent="0" marL="0">
              <a:buNone/>
            </a:pPr>
            <a:r>
              <a:rPr lang="en-US" sz="900" b="1" dirty="0">
                <a:solidFill>
                  <a:srgbClr val="E8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pPr algn="r" indent="0" marL="0">
              <a:buNone/>
            </a:pPr>
            <a:r>
              <a:rPr lang="en-US" sz="9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iNET — Technical Appendix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iNET Event to a Phone in Under a Second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alert engine turns raw events into targeted, auditable notifications.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559052" cy="868680"/>
          </a:xfrm>
          <a:prstGeom prst="roundRect">
            <a:avLst>
              <a:gd name="adj" fmla="val 8421"/>
            </a:avLst>
          </a:prstGeom>
          <a:solidFill>
            <a:srgbClr val="EDF3F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20240"/>
            <a:ext cx="1467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received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26564" y="2354580"/>
            <a:ext cx="256032" cy="0"/>
          </a:xfrm>
          <a:prstGeom prst="line">
            <a:avLst/>
          </a:prstGeom>
          <a:noFill/>
          <a:ln w="28575">
            <a:solidFill>
              <a:srgbClr val="E8A33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510028" y="1920240"/>
            <a:ext cx="1559052" cy="868680"/>
          </a:xfrm>
          <a:prstGeom prst="roundRect">
            <a:avLst>
              <a:gd name="adj" fmla="val 8421"/>
            </a:avLst>
          </a:prstGeom>
          <a:solidFill>
            <a:srgbClr val="EDF3F8"/>
          </a:solidFill>
          <a:ln/>
        </p:spPr>
      </p:sp>
      <p:sp>
        <p:nvSpPr>
          <p:cNvPr id="8" name="Text 6"/>
          <p:cNvSpPr/>
          <p:nvPr/>
        </p:nvSpPr>
        <p:spPr>
          <a:xfrm>
            <a:off x="2555748" y="1920240"/>
            <a:ext cx="1467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verified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96512" y="2354580"/>
            <a:ext cx="256032" cy="0"/>
          </a:xfrm>
          <a:prstGeom prst="line">
            <a:avLst/>
          </a:prstGeom>
          <a:noFill/>
          <a:ln w="28575">
            <a:solidFill>
              <a:srgbClr val="E8A33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79976" y="1920240"/>
            <a:ext cx="1559052" cy="868680"/>
          </a:xfrm>
          <a:prstGeom prst="roundRect">
            <a:avLst>
              <a:gd name="adj" fmla="val 8421"/>
            </a:avLst>
          </a:prstGeom>
          <a:solidFill>
            <a:srgbClr val="EDF3F8"/>
          </a:solidFill>
          <a:ln/>
        </p:spPr>
      </p:sp>
      <p:sp>
        <p:nvSpPr>
          <p:cNvPr id="11" name="Text 9"/>
          <p:cNvSpPr/>
          <p:nvPr/>
        </p:nvSpPr>
        <p:spPr>
          <a:xfrm>
            <a:off x="4425696" y="1920240"/>
            <a:ext cx="1467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evaluated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66460" y="2354580"/>
            <a:ext cx="256032" cy="0"/>
          </a:xfrm>
          <a:prstGeom prst="line">
            <a:avLst/>
          </a:prstGeom>
          <a:noFill/>
          <a:ln w="28575">
            <a:solidFill>
              <a:srgbClr val="E8A33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49924" y="1920240"/>
            <a:ext cx="1559052" cy="868680"/>
          </a:xfrm>
          <a:prstGeom prst="roundRect">
            <a:avLst>
              <a:gd name="adj" fmla="val 8421"/>
            </a:avLst>
          </a:prstGeom>
          <a:solidFill>
            <a:srgbClr val="EDF3F8"/>
          </a:solidFill>
          <a:ln/>
        </p:spPr>
      </p:sp>
      <p:sp>
        <p:nvSpPr>
          <p:cNvPr id="14" name="Text 12"/>
          <p:cNvSpPr/>
          <p:nvPr/>
        </p:nvSpPr>
        <p:spPr>
          <a:xfrm>
            <a:off x="6295644" y="1920240"/>
            <a:ext cx="1467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persisted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36408" y="2354580"/>
            <a:ext cx="256032" cy="0"/>
          </a:xfrm>
          <a:prstGeom prst="line">
            <a:avLst/>
          </a:prstGeom>
          <a:noFill/>
          <a:ln w="28575">
            <a:solidFill>
              <a:srgbClr val="E8A33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19872" y="1920240"/>
            <a:ext cx="1559052" cy="868680"/>
          </a:xfrm>
          <a:prstGeom prst="roundRect">
            <a:avLst>
              <a:gd name="adj" fmla="val 8421"/>
            </a:avLst>
          </a:prstGeom>
          <a:solidFill>
            <a:srgbClr val="EDF3F8"/>
          </a:solidFill>
          <a:ln/>
        </p:spPr>
      </p:sp>
      <p:sp>
        <p:nvSpPr>
          <p:cNvPr id="17" name="Text 15"/>
          <p:cNvSpPr/>
          <p:nvPr/>
        </p:nvSpPr>
        <p:spPr>
          <a:xfrm>
            <a:off x="8165592" y="1920240"/>
            <a:ext cx="1467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fan-out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706356" y="2354580"/>
            <a:ext cx="256032" cy="0"/>
          </a:xfrm>
          <a:prstGeom prst="line">
            <a:avLst/>
          </a:prstGeom>
          <a:noFill/>
          <a:ln w="28575">
            <a:solidFill>
              <a:srgbClr val="E8A33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989820" y="1920240"/>
            <a:ext cx="1559052" cy="868680"/>
          </a:xfrm>
          <a:prstGeom prst="roundRect">
            <a:avLst>
              <a:gd name="adj" fmla="val 8421"/>
            </a:avLst>
          </a:prstGeom>
          <a:solidFill>
            <a:srgbClr val="252B5C"/>
          </a:solidFill>
          <a:ln/>
        </p:spPr>
      </p:sp>
      <p:sp>
        <p:nvSpPr>
          <p:cNvPr id="20" name="Text 18"/>
          <p:cNvSpPr/>
          <p:nvPr/>
        </p:nvSpPr>
        <p:spPr>
          <a:xfrm>
            <a:off x="10035540" y="1920240"/>
            <a:ext cx="1467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— deep-linked to the device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31546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200–800 ms</a:t>
            </a:r>
            <a:endParaRPr lang="en-US" sz="3000" dirty="0"/>
          </a:p>
          <a:p>
            <a:pPr indent="0" marL="0">
              <a:buNone/>
            </a:pPr>
            <a:r>
              <a:rPr lang="en-US" sz="110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end-to-end, plus the browser push service hop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640080" y="4343400"/>
            <a:ext cx="3593592" cy="1965960"/>
          </a:xfrm>
          <a:prstGeom prst="roundRect">
            <a:avLst>
              <a:gd name="adj" fmla="val 3721"/>
            </a:avLst>
          </a:prstGeom>
          <a:solidFill>
            <a:srgbClr val="EDF3F8"/>
          </a:solidFill>
          <a:ln/>
        </p:spPr>
      </p:sp>
      <p:sp>
        <p:nvSpPr>
          <p:cNvPr id="23" name="Shape 21"/>
          <p:cNvSpPr/>
          <p:nvPr/>
        </p:nvSpPr>
        <p:spPr>
          <a:xfrm>
            <a:off x="841248" y="4526280"/>
            <a:ext cx="502920" cy="502920"/>
          </a:xfrm>
          <a:prstGeom prst="ellipse">
            <a:avLst/>
          </a:prstGeom>
          <a:solidFill>
            <a:srgbClr val="2E6E8E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007" y="4657039"/>
            <a:ext cx="241402" cy="24140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481328" y="4572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are data, not code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41248" y="51206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rules (e.g. occupancy ≥ 0.7) and event rules are configured in the operator UI, scoped to worlds — no deploy to change behaviour.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379976" y="4343400"/>
            <a:ext cx="3593592" cy="1965960"/>
          </a:xfrm>
          <a:prstGeom prst="roundRect">
            <a:avLst>
              <a:gd name="adj" fmla="val 3721"/>
            </a:avLst>
          </a:prstGeom>
          <a:solidFill>
            <a:srgbClr val="EDF3F8"/>
          </a:solidFill>
          <a:ln/>
        </p:spPr>
      </p:sp>
      <p:sp>
        <p:nvSpPr>
          <p:cNvPr id="28" name="Shape 25"/>
          <p:cNvSpPr/>
          <p:nvPr/>
        </p:nvSpPr>
        <p:spPr>
          <a:xfrm>
            <a:off x="4581144" y="4526280"/>
            <a:ext cx="502920" cy="502920"/>
          </a:xfrm>
          <a:prstGeom prst="ellipse">
            <a:avLst/>
          </a:prstGeom>
          <a:solidFill>
            <a:srgbClr val="E8A33B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903" y="4657039"/>
            <a:ext cx="241402" cy="241402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221224" y="4572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Auditable by the operator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4581144" y="51206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receipt is logged with its per-rule outcome — matched, or exactly why not — visible in the dashboard. No log-diving to answer 'why didn't it fire?'.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8119872" y="4343400"/>
            <a:ext cx="3593592" cy="1965960"/>
          </a:xfrm>
          <a:prstGeom prst="roundRect">
            <a:avLst>
              <a:gd name="adj" fmla="val 3721"/>
            </a:avLst>
          </a:prstGeom>
          <a:solidFill>
            <a:srgbClr val="EDF3F8"/>
          </a:solidFill>
          <a:ln/>
        </p:spPr>
      </p:sp>
      <p:sp>
        <p:nvSpPr>
          <p:cNvPr id="33" name="Shape 29"/>
          <p:cNvSpPr/>
          <p:nvPr/>
        </p:nvSpPr>
        <p:spPr>
          <a:xfrm>
            <a:off x="8321040" y="4526280"/>
            <a:ext cx="502920" cy="50292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1799" y="4657039"/>
            <a:ext cx="241402" cy="24140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961120" y="4572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 land on the pin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8321040" y="51206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push deep-links to the exact device: the map flies to it, opens the detail drawer, and highlights the alert state.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816559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</a:t>
            </a:r>
            <a:pPr algn="r" indent="0" marL="0">
              <a:buNone/>
            </a:pPr>
            <a:r>
              <a:rPr lang="en-US" sz="900" b="1" dirty="0">
                <a:solidFill>
                  <a:srgbClr val="E8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pPr algn="r" indent="0" marL="0">
              <a:buNone/>
            </a:pPr>
            <a:r>
              <a:rPr lang="en-US" sz="9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iNET — Technical Appendix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Model — Six Controls, Layered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Zero-trust-minded defaults: authenticate every request, sign every event, encrypt every secret.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93592" cy="2029968"/>
          </a:xfrm>
          <a:prstGeom prst="roundRect">
            <a:avLst>
              <a:gd name="adj" fmla="val 3604"/>
            </a:avLst>
          </a:prstGeom>
          <a:solidFill>
            <a:srgbClr val="EDF3F8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965960"/>
            <a:ext cx="502920" cy="502920"/>
          </a:xfrm>
          <a:prstGeom prst="ellipse">
            <a:avLst/>
          </a:prstGeom>
          <a:solidFill>
            <a:srgbClr val="252B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007" y="20967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20208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auth + RBAC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41248" y="258775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auth; per-project read/write authorization enforced at the top of every API route.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79976" y="1783080"/>
            <a:ext cx="3593592" cy="2029968"/>
          </a:xfrm>
          <a:prstGeom prst="roundRect">
            <a:avLst>
              <a:gd name="adj" fmla="val 3604"/>
            </a:avLst>
          </a:prstGeom>
          <a:solidFill>
            <a:srgbClr val="EDF3F8"/>
          </a:solidFill>
          <a:ln/>
        </p:spPr>
      </p:sp>
      <p:sp>
        <p:nvSpPr>
          <p:cNvPr id="10" name="Shape 7"/>
          <p:cNvSpPr/>
          <p:nvPr/>
        </p:nvSpPr>
        <p:spPr>
          <a:xfrm>
            <a:off x="4581144" y="1965960"/>
            <a:ext cx="502920" cy="502920"/>
          </a:xfrm>
          <a:prstGeom prst="ellipse">
            <a:avLst/>
          </a:prstGeom>
          <a:solidFill>
            <a:srgbClr val="E8A3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903" y="20967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21224" y="20208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Signed webhooks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81144" y="258775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per source, constant-time comparison; unsigned or mismatched events are rejected.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19872" y="1783080"/>
            <a:ext cx="3593592" cy="2029968"/>
          </a:xfrm>
          <a:prstGeom prst="roundRect">
            <a:avLst>
              <a:gd name="adj" fmla="val 3604"/>
            </a:avLst>
          </a:prstGeom>
          <a:solidFill>
            <a:srgbClr val="EDF3F8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1040" y="1965960"/>
            <a:ext cx="502920" cy="502920"/>
          </a:xfrm>
          <a:prstGeom prst="ellipse">
            <a:avLst/>
          </a:prstGeom>
          <a:solidFill>
            <a:srgbClr val="D6454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1799" y="209671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1120" y="20208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encrypted at rest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21040" y="258775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envelope for iNET credentials, webhook secrets, and API keys. Nothing sensitive in plaintext.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977640"/>
            <a:ext cx="3593592" cy="2029968"/>
          </a:xfrm>
          <a:prstGeom prst="roundRect">
            <a:avLst>
              <a:gd name="adj" fmla="val 3604"/>
            </a:avLst>
          </a:prstGeom>
          <a:solidFill>
            <a:srgbClr val="EDF3F8"/>
          </a:solidFill>
          <a:ln/>
        </p:spPr>
      </p:sp>
      <p:sp>
        <p:nvSpPr>
          <p:cNvPr id="20" name="Shape 15"/>
          <p:cNvSpPr/>
          <p:nvPr/>
        </p:nvSpPr>
        <p:spPr>
          <a:xfrm>
            <a:off x="841248" y="4160520"/>
            <a:ext cx="502920" cy="502920"/>
          </a:xfrm>
          <a:prstGeom prst="ellipse">
            <a:avLst/>
          </a:prstGeom>
          <a:solidFill>
            <a:srgbClr val="2E6E8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07" y="429127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81328" y="421538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Anonymous by design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41248" y="478231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PWAs need no account; push subscriptions carry zero PII. Worlds can be public, link-only, or credential-gated.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79976" y="3977640"/>
            <a:ext cx="3593592" cy="2029968"/>
          </a:xfrm>
          <a:prstGeom prst="roundRect">
            <a:avLst>
              <a:gd name="adj" fmla="val 3604"/>
            </a:avLst>
          </a:prstGeom>
          <a:solidFill>
            <a:srgbClr val="EDF3F8"/>
          </a:solidFill>
          <a:ln/>
        </p:spPr>
      </p:sp>
      <p:sp>
        <p:nvSpPr>
          <p:cNvPr id="25" name="Shape 19"/>
          <p:cNvSpPr/>
          <p:nvPr/>
        </p:nvSpPr>
        <p:spPr>
          <a:xfrm>
            <a:off x="4581144" y="4160520"/>
            <a:ext cx="502920" cy="50292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1903" y="429127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21224" y="421538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 isolation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81144" y="478231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→ Project → Source hierarchy; every query is project-scoped. Per-source webhook secrets, per-project AI keys.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19872" y="3977640"/>
            <a:ext cx="3593592" cy="2029968"/>
          </a:xfrm>
          <a:prstGeom prst="roundRect">
            <a:avLst>
              <a:gd name="adj" fmla="val 3604"/>
            </a:avLst>
          </a:prstGeom>
          <a:solidFill>
            <a:srgbClr val="EDF3F8"/>
          </a:solidFill>
          <a:ln/>
        </p:spPr>
      </p:sp>
      <p:sp>
        <p:nvSpPr>
          <p:cNvPr id="30" name="Shape 23"/>
          <p:cNvSpPr/>
          <p:nvPr/>
        </p:nvSpPr>
        <p:spPr>
          <a:xfrm>
            <a:off x="8321040" y="4160520"/>
            <a:ext cx="502920" cy="502920"/>
          </a:xfrm>
          <a:prstGeom prst="ellipse">
            <a:avLst/>
          </a:prstGeom>
          <a:solidFill>
            <a:srgbClr val="2F366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1799" y="429127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61120" y="421538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data residency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21040" y="478231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Postgres in Frankfurt; portable to any region, cloud, or on-prem Postgres — including Azure.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816559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</a:t>
            </a:r>
            <a:pPr algn="r" indent="0" marL="0">
              <a:buNone/>
            </a:pPr>
            <a:r>
              <a:rPr lang="en-US" sz="900" b="1" dirty="0">
                <a:solidFill>
                  <a:srgbClr val="E8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pPr algn="r" indent="0" marL="0">
              <a:buNone/>
            </a:pPr>
            <a:r>
              <a:rPr lang="en-US" sz="9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iNET — Technical Appendix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Paris — a Grounded AI Operator, Not a Chatbot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Paris cites was fetched by a tool in that same conversation. It is instructed never to invent values.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READ-ONLY TOOLS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EDF3F8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5740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6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get_open_alerts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11880" y="20574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history (Postgres)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760720" y="2185416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D8DFEA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0" y="218541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2734056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EDF3F8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734056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6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list_devices_by_subsystem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11880" y="273405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catalog (Postgres)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0" y="2862072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D8DFEA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286207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3410712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EDF3F8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41071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6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list_alert_rules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11880" y="341071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config (Postgres)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60720" y="3538728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D8DFEA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3538728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0080" y="4087368"/>
            <a:ext cx="5943600" cy="566928"/>
          </a:xfrm>
          <a:prstGeom prst="roundRect">
            <a:avLst>
              <a:gd name="adj" fmla="val 9677"/>
            </a:avLst>
          </a:prstGeom>
          <a:solidFill>
            <a:srgbClr val="EDF3F8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08736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026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get_device_status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11880" y="40873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iNET /status — fetched live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60720" y="4215384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E8A33B"/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0" y="4215384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0080" y="4901184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become taps:  </a:t>
            </a:r>
            <a:pPr indent="0" marL="0">
              <a:buNone/>
            </a:pPr>
            <a:r>
              <a:rPr lang="en-US" sz="11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carry structured actions — tap a cited device and the map flies to it with live telemetry open.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" y="563270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2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Alongside iNET Sidekick:  </a:t>
            </a:r>
            <a:pPr indent="0" marL="0">
              <a:buNone/>
            </a:pPr>
            <a:r>
              <a:rPr lang="en-US" sz="11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Sidekick assists the TMC operator inside iNET; Paris answers stakeholders inside their scoped world. Complementary, not overlapping.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995160" y="1783080"/>
            <a:ext cx="4553712" cy="4480560"/>
          </a:xfrm>
          <a:prstGeom prst="roundRect">
            <a:avLst>
              <a:gd name="adj" fmla="val 1633"/>
            </a:avLst>
          </a:prstGeom>
          <a:solidFill>
            <a:srgbClr val="252B5C"/>
          </a:solidFill>
          <a:ln/>
        </p:spPr>
      </p:sp>
      <p:sp>
        <p:nvSpPr>
          <p:cNvPr id="28" name="Shape 26"/>
          <p:cNvSpPr/>
          <p:nvPr/>
        </p:nvSpPr>
        <p:spPr>
          <a:xfrm>
            <a:off x="7269480" y="2057400"/>
            <a:ext cx="548640" cy="548640"/>
          </a:xfrm>
          <a:prstGeom prst="ellipse">
            <a:avLst/>
          </a:prstGeom>
          <a:solidFill>
            <a:srgbClr val="E8A33B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2126" y="2200046"/>
            <a:ext cx="263347" cy="263347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001000" y="21305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&amp; cost model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7269480" y="283464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D9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user's question and tool results enter the loop — never PII, never bulk data.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D9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Bring-your-own Anthropic key per project: device data stays under the operator's own contract.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D9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fallback key is rate-limited; cost guard caps tool iterations per question.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D9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read-only — Paris can observe the network, never act on it.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816559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</a:t>
            </a:r>
            <a:pPr algn="r" indent="0" marL="0">
              <a:buNone/>
            </a:pPr>
            <a:r>
              <a:rPr lang="en-US" sz="900" b="1" dirty="0">
                <a:solidFill>
                  <a:srgbClr val="E8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pPr algn="r" indent="0" marL="0">
              <a:buNone/>
            </a:pPr>
            <a:r>
              <a:rPr lang="en-US" sz="9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iNET — Technical Appendix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 — Boring Where It Should Be, Modern Where It Pays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Standard, portable, hiring-friendly choices. No exotic infrastructure to operate.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49824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93392"/>
            <a:ext cx="502920" cy="502920"/>
          </a:xfrm>
          <a:prstGeom prst="ellipse">
            <a:avLst/>
          </a:prstGeom>
          <a:solidFill>
            <a:srgbClr val="252B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2124151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965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TypeScript, strict — end to end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81328" y="235000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typed pipeline from database schema to API to UI; whole classes of integration bugs can't compile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36208" y="1828800"/>
            <a:ext cx="5449824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/>
        </p:spPr>
      </p:sp>
      <p:sp>
        <p:nvSpPr>
          <p:cNvPr id="10" name="Shape 7"/>
          <p:cNvSpPr/>
          <p:nvPr/>
        </p:nvSpPr>
        <p:spPr>
          <a:xfrm>
            <a:off x="6419088" y="1993392"/>
            <a:ext cx="502920" cy="502920"/>
          </a:xfrm>
          <a:prstGeom prst="ellipse">
            <a:avLst/>
          </a:prstGeom>
          <a:solidFill>
            <a:srgbClr val="2E6E8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847" y="2124151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77456" y="1965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15 (App Router)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077456" y="235000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 operator console; streaming, installable PWA worlds from the same codebase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3310128"/>
            <a:ext cx="5449824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3474720"/>
            <a:ext cx="502920" cy="502920"/>
          </a:xfrm>
          <a:prstGeom prst="ellipse">
            <a:avLst/>
          </a:prstGeom>
          <a:solidFill>
            <a:srgbClr val="E8A33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360547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81328" y="34472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 + Prisma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81328" y="383133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boring, portable, provable; connection pooling makes it serverless-safe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36208" y="3310128"/>
            <a:ext cx="5449824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/>
        </p:spPr>
      </p:sp>
      <p:sp>
        <p:nvSpPr>
          <p:cNvPr id="20" name="Shape 15"/>
          <p:cNvSpPr/>
          <p:nvPr/>
        </p:nvSpPr>
        <p:spPr>
          <a:xfrm>
            <a:off x="6419088" y="3474720"/>
            <a:ext cx="502920" cy="50292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9847" y="360547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77456" y="34472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Mapbox GL + Three.js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077456" y="383133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map engine for operator and visitor — continuous zoom from globe to a device's own 3D model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4791456"/>
            <a:ext cx="5449824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/>
        </p:spPr>
      </p:sp>
      <p:sp>
        <p:nvSpPr>
          <p:cNvPr id="25" name="Shape 19"/>
          <p:cNvSpPr/>
          <p:nvPr/>
        </p:nvSpPr>
        <p:spPr>
          <a:xfrm>
            <a:off x="822960" y="4956048"/>
            <a:ext cx="502920" cy="502920"/>
          </a:xfrm>
          <a:prstGeom prst="ellipse">
            <a:avLst/>
          </a:prstGeom>
          <a:solidFill>
            <a:srgbClr val="D6454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719" y="5086807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81328" y="49286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Push (VAPID, W3C standard)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481328" y="5312664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to any modern browser — no app store, no Firebase dependency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36208" y="4791456"/>
            <a:ext cx="5449824" cy="1325880"/>
          </a:xfrm>
          <a:prstGeom prst="roundRect">
            <a:avLst>
              <a:gd name="adj" fmla="val 5517"/>
            </a:avLst>
          </a:prstGeom>
          <a:solidFill>
            <a:srgbClr val="EDF3F8"/>
          </a:solidFill>
          <a:ln/>
        </p:spPr>
      </p:sp>
      <p:sp>
        <p:nvSpPr>
          <p:cNvPr id="30" name="Shape 23"/>
          <p:cNvSpPr/>
          <p:nvPr/>
        </p:nvSpPr>
        <p:spPr>
          <a:xfrm>
            <a:off x="6419088" y="4956048"/>
            <a:ext cx="502920" cy="502920"/>
          </a:xfrm>
          <a:prstGeom prst="ellipse">
            <a:avLst/>
          </a:prstGeom>
          <a:solidFill>
            <a:srgbClr val="2F366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9847" y="5086807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77456" y="49286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(Anthropic)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077456" y="5312664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tool-use pattern for grounded answers; swappable model layer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816559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</a:t>
            </a:r>
            <a:pPr algn="r" indent="0" marL="0">
              <a:buNone/>
            </a:pPr>
            <a:r>
              <a:rPr lang="en-US" sz="900" b="1" dirty="0">
                <a:solidFill>
                  <a:srgbClr val="E8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pPr algn="r" indent="0" marL="0">
              <a:buNone/>
            </a:pPr>
            <a:r>
              <a:rPr lang="en-US" sz="900" dirty="0">
                <a:solidFill>
                  <a:srgbClr val="9A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iNET — Technical Appendix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52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Extend — With Parsons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abstractions were designed for exactly the conversations we hope to have next.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93592" cy="2651760"/>
          </a:xfrm>
          <a:prstGeom prst="roundRect">
            <a:avLst>
              <a:gd name="adj" fmla="val 2759"/>
            </a:avLst>
          </a:prstGeom>
          <a:solidFill>
            <a:srgbClr val="2F366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57400"/>
            <a:ext cx="594360" cy="594360"/>
          </a:xfrm>
          <a:prstGeom prst="ellipse">
            <a:avLst/>
          </a:prstGeom>
          <a:solidFill>
            <a:srgbClr val="2E6E8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214" y="22119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834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data sources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29184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connector interface needs two methods — list entities, get status. A SCATS, KITS, or C2C adapter plugs in with zero changes to worlds, rules, alerts, or Paris.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79976" y="1828800"/>
            <a:ext cx="3593592" cy="2651760"/>
          </a:xfrm>
          <a:prstGeom prst="roundRect">
            <a:avLst>
              <a:gd name="adj" fmla="val 2759"/>
            </a:avLst>
          </a:prstGeom>
          <a:solidFill>
            <a:srgbClr val="2F366B"/>
          </a:solidFill>
          <a:ln/>
        </p:spPr>
      </p:sp>
      <p:sp>
        <p:nvSpPr>
          <p:cNvPr id="10" name="Shape 7"/>
          <p:cNvSpPr/>
          <p:nvPr/>
        </p:nvSpPr>
        <p:spPr>
          <a:xfrm>
            <a:off x="4608576" y="2057400"/>
            <a:ext cx="594360" cy="594360"/>
          </a:xfrm>
          <a:prstGeom prst="ellipse">
            <a:avLst/>
          </a:prstGeom>
          <a:solidFill>
            <a:srgbClr val="E8A3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110" y="22119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08576" y="2834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alert channels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08576" y="329184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matching and dispatch are separate steps. SMS, email, or Teams delivery is a new dispatcher beside web push — the engine doesn't change.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19872" y="1828800"/>
            <a:ext cx="3593592" cy="2651760"/>
          </a:xfrm>
          <a:prstGeom prst="roundRect">
            <a:avLst>
              <a:gd name="adj" fmla="val 2759"/>
            </a:avLst>
          </a:prstGeom>
          <a:solidFill>
            <a:srgbClr val="2F366B"/>
          </a:solidFill>
          <a:ln/>
        </p:spPr>
      </p:sp>
      <p:sp>
        <p:nvSpPr>
          <p:cNvPr id="15" name="Shape 11"/>
          <p:cNvSpPr/>
          <p:nvPr/>
        </p:nvSpPr>
        <p:spPr>
          <a:xfrm>
            <a:off x="8348472" y="2057400"/>
            <a:ext cx="594360" cy="59436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006" y="22119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48472" y="2834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worlds, one network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48472" y="329184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project can publish unlimited scoped worlds — maintenance, police, executives, the public — each themed, permissioned, and independently installable.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846320"/>
            <a:ext cx="1090879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914400" y="49834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iNET stays the source of truth. </a:t>
            </a:r>
            <a:pPr indent="0" marL="0">
              <a:buNone/>
            </a:pPr>
            <a:r>
              <a:rPr lang="en-US" sz="1500" dirty="0">
                <a:solidFill>
                  <a:srgbClr val="5E68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PSMdt makes it installable, shareable, and alert-driven — for every stakeholder Parsons serves.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914400" y="55778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</a:t>
            </a:r>
            <a:pPr indent="0" marL="0">
              <a:buNone/>
            </a:pPr>
            <a:r>
              <a:rPr lang="en-US" sz="1200" dirty="0">
                <a:solidFill>
                  <a:srgbClr val="5E6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iNET emits the documented webhook contract (HMAC-signed, status included) — our mock server ships as the reference implementation.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16559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</a:t>
            </a:r>
            <a:pPr algn="r" indent="0" marL="0">
              <a:buNone/>
            </a:pPr>
            <a:r>
              <a:rPr lang="en-US" sz="900" b="1" dirty="0">
                <a:solidFill>
                  <a:srgbClr val="E8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pPr algn="r" indent="0" marL="0">
              <a:buNone/>
            </a:pPr>
            <a:r>
              <a:rPr lang="en-US" sz="900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iNET — Technical Appendix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2026-07-22T14:07:08Z</dcterms:created>
  <dcterms:modified xsi:type="dcterms:W3CDTF">2026-07-22T14:07:08Z</dcterms:modified>
</cp:coreProperties>
</file>